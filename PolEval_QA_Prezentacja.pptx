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23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PolEval 2021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4: Question Answering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Automatyczne odpowiadanie na pytania ogólnowiedzy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04672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2880360"/>
            <a:ext cx="1965960" cy="137160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2971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z dziesięciu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3566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 teleturnieju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2880360"/>
            <a:ext cx="1965960" cy="137160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2971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(v6)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3566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osiągnięta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880360"/>
            <a:ext cx="1965960" cy="137160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2971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566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PolEval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880360"/>
            <a:ext cx="1965960" cy="137160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2971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35661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Pytań dev-0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zaliczeniowy | NLP / Information Retrieval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Automatyczne QA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Definicja zadania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automatycznie odpowiada na pytania ogólnowiedzy w stylu telewizyjnym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 pytań: 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teleturniej "Jeden z dziesięciu" – pytania faktograficzne, kilkusłowne odpowiedzi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treningu: 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zbioru treningowego – wolne zasoby offline (Wikipedia), zakaz zapytań internetowych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Odpowiedź: 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kilka słów (nie zdanie), może zawierać przyimki i odmienione formy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078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pytań w PolEval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393192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73152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15453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Encja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nazywa się...?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6642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Lara Croft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157984"/>
            <a:ext cx="39319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2157984"/>
            <a:ext cx="73152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64608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Tak/Nie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64608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Wenus ma księżyce?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78040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Tak / Nie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807208"/>
            <a:ext cx="393192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807208"/>
            <a:ext cx="73152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2843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64608" y="30540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tygodni ma rok?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29626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456432"/>
            <a:ext cx="39319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456432"/>
            <a:ext cx="73152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64608" y="34930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Skrót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64608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Proszę rozwinąć skrót CIA.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Central Intelligence Agency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4105656"/>
            <a:ext cx="393192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4105656"/>
            <a:ext cx="73152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4142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Dopełnienie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64608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łączy Mak i nic?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42611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Pasternak i figa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Podejście PolEval: Baseline WIKI_SEARCH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10789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Tokenizacja pytania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353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pl_core_news_sm – pomija tokeny 1-znakowe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5568" y="19476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Zapytanie do Wikipedia Search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2219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tokeny rozdzielone spacją jako query do polskiej Wikipedii (online)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5568" y="28163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Filtrowanie tytułu artykułu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30906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 czy tytuł artykułu nie pokrywa się z pytaniem (Levenshtein &gt; 50%)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321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5568" y="36850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Zwrot tytułu jako odpowiedź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39593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usuwa część od '(' i zwraca tytuł; jeśli nie ma — usuwa pierwsze słowo pytania i powtarza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526280"/>
            <a:ext cx="8321040" cy="41148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5445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Wynik baseline: ~29% accuracy  |  Główna wada: wymaga połączenia z Internetem (Wikipedia API online)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Nasze podejście – Architektura RAG (v6)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572768" cy="310896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15727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111556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719072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24231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Lematyzacja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27889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pl_core_news_sm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965960" y="2514600"/>
            <a:ext cx="10972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975104" y="23317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084832" y="960120"/>
            <a:ext cx="1572768" cy="3108960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084832" y="960120"/>
            <a:ext cx="15727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633472" y="1115568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63347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1719072"/>
            <a:ext cx="566928" cy="5669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84832" y="24231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Retrieval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084832" y="27889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FTS5 · 1.68M art.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666744" y="2514600"/>
            <a:ext cx="10972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675888" y="23317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3785616" y="960120"/>
            <a:ext cx="1572768" cy="310896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785616" y="960120"/>
            <a:ext cx="157276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334256" y="1115568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334256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1719072"/>
            <a:ext cx="566928" cy="56692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785616" y="24231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3785616" y="27889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mMiniLMv2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367528" y="2514600"/>
            <a:ext cx="10972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5376672" y="23317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Shape 26"/>
          <p:cNvSpPr/>
          <p:nvPr/>
        </p:nvSpPr>
        <p:spPr>
          <a:xfrm>
            <a:off x="5486400" y="960120"/>
            <a:ext cx="1572768" cy="3108960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5486400" y="960120"/>
            <a:ext cx="1572768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035040" y="1115568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03504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1719072"/>
            <a:ext cx="566928" cy="56692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486400" y="24231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QA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5486400" y="27889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polish-qa-v2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068312" y="2514600"/>
            <a:ext cx="10972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7077456" y="23317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0" name="Shape 34"/>
          <p:cNvSpPr/>
          <p:nvPr/>
        </p:nvSpPr>
        <p:spPr>
          <a:xfrm>
            <a:off x="7187184" y="960120"/>
            <a:ext cx="1572768" cy="3108960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7187184" y="960120"/>
            <a:ext cx="1572768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7735824" y="1115568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7735824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1719072"/>
            <a:ext cx="566928" cy="56692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187184" y="24231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Odpowiedź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7187184" y="27889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Fallback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384048" y="4206240"/>
            <a:ext cx="8412480" cy="749808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594360" y="4279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innowacje v6: 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594360" y="45445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paragraph boost  ·  Symbol/skrót boost  ·  clean_answer()  ·  Cross-encoder faktycznie wywoływany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Retrieval – BM25 + SQLite FTS5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 Wikipedii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7490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645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Artykuły Wikipedia PL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6184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1 680 000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2768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Rozmiar zrzutu (JSONL)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2494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GB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70632"/>
            <a:ext cx="37490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770632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29077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Rozmiar indeksu SQLite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8803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GB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01568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401568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3538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Fragmenty (chunki ~1000 znaków)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35112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032504"/>
            <a:ext cx="37490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4032504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" y="41696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 fragmentów per pytanie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41422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80560" y="96012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Budowanie zapytania BM25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17720" y="1581912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17720" y="1581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47488" y="1554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Tokenizacja + Lematyzacja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47488" y="1801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→ formy podstawowe: "państwie" → "państwo"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36592" y="1911096"/>
            <a:ext cx="73152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17720" y="2386584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17720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47488" y="23591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Duplikacja nazw własnych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47488" y="2606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wyższy priorytet dla encji własnych w BM25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36592" y="2715768"/>
            <a:ext cx="73152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17720" y="3191256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17720" y="3191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47488" y="31638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paragraph priority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47488" y="34107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zaczyna definicją → przesuwa na początek listy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36592" y="3520440"/>
            <a:ext cx="73152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17720" y="3995928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17720" y="3995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47488" y="3968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Symbol/skrót boost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47488" y="42153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symbolu Bq" → dodaje token 'Bq' do FTS5 query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i Ekstrakcja Odpowiedzi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Re-Ranking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mmarco-mMiniLMv2-L12-H384-v1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Wejście: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par (pytanie, chunk)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Wyjście: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chunkow semantycznie pasujących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Kluczowe: </a:t>
            </a: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v5 był w architekturze, ale nie był wywoływany! Naprawione w v5b.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233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QA – radlab/polish-qa-v2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44475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Typ: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QA (span extraction)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Wejście: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 + połączony kontekst top-5 (max 2000 znaków)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Wyjście: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tekstu + confidence score
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Fine-tuned: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polskie dane QA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Ścieżki specjalne i fallback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" y="3547872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" y="3547872"/>
            <a:ext cx="73152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6210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 Tak/Nie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849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QA szuka słów sygnałowych → fallback: zliczanie w pierwszych zdaniach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27448" y="3547872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27448" y="3547872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6210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Niski score (&lt; 0.20)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849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na tytuł artykułu z najlepszego chunka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" y="4297680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4048" y="4297680"/>
            <a:ext cx="7315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370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Długa odpowiedź (&gt; 6 słów)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599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zastępuje tytułem artykułu – odpowiedzi concise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27448" y="4297680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27448" y="4297680"/>
            <a:ext cx="73152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4370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clean_answer()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599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usuwa śmieciowe znaki interpunkcji z krawędzi odpowiedzi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Modyfikacje względem Baseline PolEval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5468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PolEval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960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Nasze podejście (v6)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 wiedzy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90672" y="137160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82112" y="1444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Search API (online)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97296" y="137160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1444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Lokalny indeks SQLite FTS5 (offline, 1.68M art.)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783080"/>
            <a:ext cx="8503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856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90672" y="178308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82112" y="1856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query → tytuł artykułu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97296" y="178308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97880" y="18562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→ TOP_K=15 fragmentów (chunki ~1000 znaków)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194560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Lematyzacja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90672" y="219456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82112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– tokenizacja tylko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97296" y="219456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97880" y="2267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– pełna lematyzacja do formy podstawowej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606040"/>
            <a:ext cx="8503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679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090672" y="260604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82112" y="2679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97296" y="260604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97880" y="26791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mmarco-mMiniLMv2 – semantyczne TOP-5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017520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Ekstrakcja odp.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90672" y="301752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82112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Tytuł artykułu jako odpowiedź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97296" y="301752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897880" y="3090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QA extractive (polish-qa-v2) + fallback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429000"/>
            <a:ext cx="8503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3502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 Tak/Nie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090672" y="342900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182112" y="3502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specjalnej obsługi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97296" y="342900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97880" y="3502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Heurystyka QA + zliczanie słów sygnałowych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840480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Symbole/skróty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090672" y="384048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182112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97296" y="384048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897880" y="3913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tokenów (Bq, GUS, CIA) w zapytaniu BM25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251960"/>
            <a:ext cx="8503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7200" y="4325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paragraph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090672" y="425196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182112" y="4325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797296" y="425196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897880" y="43251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 definicji artykułu Wikipedia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4663440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57200" y="4736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(accuracy)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090672" y="466344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182112" y="4736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797296" y="4663440"/>
            <a:ext cx="3657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897880" y="4736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(+9 pp)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 – Ewolucja systemu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3745992"/>
            <a:ext cx="914400" cy="4145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34533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434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regex (6k art.)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99616" y="3568337"/>
            <a:ext cx="914400" cy="592183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99616" y="3275729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99616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53896" y="4434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Lepsza ekstrakcja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87752" y="2902131"/>
            <a:ext cx="914400" cy="1258389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87752" y="2609523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87752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42032" y="4434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xlm-roberta-base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pełna Wikipedia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75888" y="2383971"/>
            <a:ext cx="914400" cy="1776549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75888" y="2091363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75888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30168" y="4434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xlm-roberta-large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64024" y="2161903"/>
            <a:ext cx="914400" cy="199861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64024" y="186929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64024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8304" y="4434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CE (architektura)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52160" y="1969443"/>
            <a:ext cx="914400" cy="219107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52160" y="16768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29.6%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4434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faktycznie wywoł.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40296" y="1347651"/>
            <a:ext cx="914400" cy="281286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0296" y="1055043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0296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94576" y="4434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lead/symbol boost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clean_answer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028432" y="2013857"/>
            <a:ext cx="914400" cy="214666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28432" y="1721249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28432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82712" y="4434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PolEval Wiki API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2013857"/>
            <a:ext cx="8229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223760" y="1757825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~29%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8085" y="1025652"/>
            <a:ext cx="1618488" cy="16002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45809" y="1208459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523533" y="1578477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445809" y="201313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 pp vs. baseline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per typ pytania (dev-0)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133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Kto/Który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0" y="1097280"/>
            <a:ext cx="2286000" cy="292608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77640" y="1115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1097280"/>
            <a:ext cx="18516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95060" y="1115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682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Jak/Jaki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1645920"/>
            <a:ext cx="1959429" cy="292608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1069" y="1664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n=180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1728216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71616" y="1664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2311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Co/Czym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2194560"/>
            <a:ext cx="1632857" cy="29260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24497" y="2212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n=150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2194560"/>
            <a:ext cx="156362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07024" y="2212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27797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45920" y="2743200"/>
            <a:ext cx="1524000" cy="292608"/>
          </a:xfrm>
          <a:prstGeom prst="rect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15640" y="2761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n=140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2743200"/>
            <a:ext cx="148132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24728" y="27614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3284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Ile/Ilu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45920" y="3291840"/>
            <a:ext cx="1306286" cy="29260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97926" y="33101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n=120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3291840"/>
            <a:ext cx="1316736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0136" y="33101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3877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Tak/Nie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645920" y="3840480"/>
            <a:ext cx="1197429" cy="292608"/>
          </a:xfrm>
          <a:prstGeom prst="rect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889069" y="38587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0" y="3840480"/>
            <a:ext cx="1152144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95544" y="3858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" y="44256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645920" y="4389120"/>
            <a:ext cx="979714" cy="292608"/>
          </a:xfrm>
          <a:prstGeom prst="rect">
            <a:avLst/>
          </a:prstGeom>
          <a:solidFill>
            <a:srgbClr val="475569">
              <a:alpha val="40000"/>
            </a:srgbClr>
          </a:solidFill>
          <a:ln w="12700">
            <a:solidFill>
              <a:srgbClr val="47556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671354" y="4407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n=90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97680" y="4389120"/>
            <a:ext cx="905256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48656" y="44074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" y="8595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645920" y="8595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 pytań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297680" y="8595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(dev-0)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 Tak/Nie i numeryczne są najtrudniejsze – wymagają osobnych ścieżek przetwarzania.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błędów po v6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2296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" y="1325880"/>
            <a:ext cx="566928" cy="56692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10972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RETRIEVAL_MISS – Wikipedia nie zawiera odpowiedzi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40817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Przysłowia, szczegóły literackie: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 który dzień Crusoe spotkał Piętaszka?" – bez specjalistycznych źródeł niemożliwe.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389888"/>
            <a:ext cx="2286000" cy="47548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19088" y="14356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Potrzebny dodatkowy korpus (encyklopedie, bazy wiedzy)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8412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82296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0352" y="2651760"/>
            <a:ext cx="566928" cy="566928"/>
          </a:xfrm>
          <a:prstGeom prst="ellipse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24231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QA_MISS – Zbyt szczegółowy span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73405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wyciąga "późnogotyckiego" zamiast "gotyckiego",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"WBC w kategorii średniej" zamiast "boksu".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2715768"/>
            <a:ext cx="2286000" cy="475488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19088" y="27614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Head noun extraction lub fine-tuning na PoQuAD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8412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82296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0352" y="3977640"/>
            <a:ext cx="566928" cy="566928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37490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Tak/Nie – Heurystyka zawodzi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05993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 o fakty negatywne: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"Czy Merkury ma księżyce?" – brak słów sygnałowych w tekście.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4041648"/>
            <a:ext cx="2286000" cy="47548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19088" y="40873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Klasyfikator binarny lub dedykowany model NLI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0058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 to klucz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Przejście 6k → 1.68M artykułów dało +11 pp. Recall retrieval ważniejszy niż jakość modelu QA.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4160520" cy="100584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20700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051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&gt; Regex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325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Zastąpienie heurystyk regexowych przez xlm-roberta: 8% → 24%. Semantyczne zrozumienie pytania kluczowe.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160520" cy="100584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57860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paragraph +15 trafień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zaczyna od definicji – priorytet pierwszego akapitu eliminuje losowy chunk ze środka artykułu.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331720"/>
            <a:ext cx="4160520" cy="100584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57860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boost +10 trafień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symbolu Bq" → token 'Bq' trafia w artykuł Bekerel. Symbole nie pasują leksykalnie do tytułu.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8412480" cy="1005840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3950208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379476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≠ implementacja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06908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był w architekturze v5, ale nie był wywoływany. Naprawienie (v5b→v6) dało +8.4 pp.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Możliwe dalsze ulepszenia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332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033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na PoQuAD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463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Polski dataset QA (~70k przykładów) – potencjalnie +5–10 pp accuracy.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26080" y="2350008"/>
            <a:ext cx="1417320" cy="25603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944368" y="23682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Szacowany wpływ: +5–10 pp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332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1033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noun extraction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28032" y="1463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Skrócenie odpowiedzi: "WBC w kategorii średniej" → "boks". Post-processing spanów QA.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223760" y="2350008"/>
            <a:ext cx="1417320" cy="25603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242048" y="23682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Szacowany wpływ: +3–5 pp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65760" y="2926080"/>
            <a:ext cx="41148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9923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Większy cross-encoder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30352" y="3429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Dedykowany polski cross-encoder lub większy model (np. mBERT-based) dla lepszego re-rankingu.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2926080" y="4315968"/>
            <a:ext cx="1417320" cy="256032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2944368" y="43342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Szacowany wpływ: +2–4 pp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663440" y="29260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663440" y="2926080"/>
            <a:ext cx="4114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99232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2064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overlap (200 znaków)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828032" y="3429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Nakładające się fragmenty eliminują utratę kontekstu na granicy chunku. Wymaga przebudowy indeksu (~50 GB).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223760" y="4315968"/>
            <a:ext cx="141732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7242048" y="43342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Szacowany wpływ: +2–3 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1210</Words>
  <Application>Microsoft Macintosh PowerPoint</Application>
  <PresentationFormat>On-screen Show (16:9)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PolEval 2021 – Zadanie 4: Question Answering</dc:title>
  <dc:subject>PptxGenJS Presentation</dc:subject>
  <dc:creator>PptxGenJS</dc:creator>
  <cp:lastModifiedBy>Michał Owsiejew</cp:lastModifiedBy>
  <cp:revision>2</cp:revision>
  <dcterms:created xsi:type="dcterms:W3CDTF">2026-06-07T17:03:37Z</dcterms:created>
  <dcterms:modified xsi:type="dcterms:W3CDTF">2026-06-07T17:37:23Z</dcterms:modified>
</cp:coreProperties>
</file>